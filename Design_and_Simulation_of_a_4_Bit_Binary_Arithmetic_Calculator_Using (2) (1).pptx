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Raleway" pitchFamily="2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</p:embeddedFont>
    <p:embeddedFont>
      <p:font typeface="Roboto Bold" panose="02000000000000000000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489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595" y="701041"/>
            <a:ext cx="6296860" cy="2874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 and Simulation of a 4-Bit Binary Arithmetic Calculator Using Combinational Logic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214443" y="327320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Name | Roll Number  ·  Department of CSE/ECE | College Name-KLH UNIVERSITY</a:t>
            </a:r>
            <a:endParaRPr lang="en-US" sz="14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1D034-606E-C2D7-CC21-D591E50FF087}"/>
              </a:ext>
            </a:extLst>
          </p:cNvPr>
          <p:cNvSpPr txBox="1"/>
          <p:nvPr/>
        </p:nvSpPr>
        <p:spPr>
          <a:xfrm>
            <a:off x="356682" y="4007076"/>
            <a:ext cx="40933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VARSHA BINDHU-2620030012</a:t>
            </a:r>
            <a:br>
              <a:rPr lang="en-IN" sz="2000" dirty="0"/>
            </a:br>
            <a:r>
              <a:rPr lang="en-IN" sz="2000" dirty="0"/>
              <a:t>JAGRITHI-2620030027</a:t>
            </a:r>
            <a:br>
              <a:rPr lang="en-IN" sz="2000" dirty="0"/>
            </a:br>
            <a:r>
              <a:rPr lang="en-IN" sz="2000" dirty="0"/>
              <a:t>SAGAR REDDY-2620030055</a:t>
            </a:r>
            <a:br>
              <a:rPr lang="en-IN" sz="2000" dirty="0"/>
            </a:br>
            <a:r>
              <a:rPr lang="en-IN" sz="2000" dirty="0"/>
              <a:t>SASANK RAHUL-2620030099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UNDER GUIDANCE: DR.RAHUL 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16000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Introduction: Digital Arithmetic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77206"/>
            <a:ext cx="6296860" cy="12528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6779" y="1966317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Digital Arithmetic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926779" y="2323802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foundation of all computational systems — every modern device relies on arithmetic at its core.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183136"/>
            <a:ext cx="6296860" cy="125283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26779" y="3372247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Binary Calculations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926779" y="3729732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core language of modern processors — all data is ultimately represented as 1s and 0s.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589066"/>
            <a:ext cx="6296860" cy="12528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6779" y="4778177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Arithmetic Circuits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926779" y="5135662"/>
            <a:ext cx="584244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fast, efficient computation in CPUs and embedded systems through combinational logic.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419" y="1953419"/>
            <a:ext cx="5207663" cy="295106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57244" y="1470819"/>
            <a:ext cx="3579227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7957244" y="2033389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10374" y="2059930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382386" y="2082105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Binary Calculations Are Slow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382386" y="2409825"/>
            <a:ext cx="315408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Human-performed binary arithmetic is inherently slow and highly susceptible to errors in complex computations.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957244" y="3217763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10374" y="3244304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382386" y="3266480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Need for Automated Computation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382386" y="3594199"/>
            <a:ext cx="315408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systems demand fast, automated arithmetic that can operate at clock speeds far beyond human capability.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957244" y="4402137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10374" y="442867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382386" y="4450854"/>
            <a:ext cx="31540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Efficient Circuit Design is Essential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382386" y="4778573"/>
            <a:ext cx="3154085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Combinational logic circuits are the backbone of processor design — efficiency here directly impacts system performance.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8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58541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200977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 4-bit Arithmetic Calculator using combinational logic circuits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658541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5658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626" y="200977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Addition, Subtraction, Increment, and Decrement operations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07842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800" y="435907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Simulate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6832" y="536793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 and verify all outputs using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Logisim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simulation software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07842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1626" y="435907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5658" y="495925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85658" y="5367933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performance metrics and evaluate hardware efficiency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Overview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952" y="928588"/>
            <a:ext cx="6963791" cy="52343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58023" y="3291516"/>
            <a:ext cx="1269999" cy="871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Three-stage Data Flow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57858" y="4835332"/>
            <a:ext cx="1889349" cy="290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Processing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57858" y="5208339"/>
            <a:ext cx="1889349" cy="353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Combinational logic selects operation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928351" y="4835332"/>
            <a:ext cx="1889349" cy="290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928351" y="5208339"/>
            <a:ext cx="1889349" cy="353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4-bit result plus carry flag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117291" y="1402120"/>
            <a:ext cx="1940976" cy="290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117291" y="1775127"/>
            <a:ext cx="1940976" cy="353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A(4 bits), B(4 bits), S1 S0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1475" y="6220321"/>
            <a:ext cx="11478330" cy="119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calculator accepts two 4-bit operands and two selection lines, routes them through combinational logic, and produces a verified 4-bit result with carry flag — all without any clock or memory element.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1508"/>
            <a:ext cx="35642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Components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127" y="1564630"/>
            <a:ext cx="226808" cy="2268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2893" y="1560016"/>
            <a:ext cx="307282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Full Adder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152893" y="1917204"/>
            <a:ext cx="3072827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Adds three bits (A, B, C) in and produces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Sum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Cout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fundamental building block of the calculator.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127" y="2816771"/>
            <a:ext cx="22680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2893" y="2812157"/>
            <a:ext cx="307282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XOR Gates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152893" y="3169345"/>
            <a:ext cx="3072827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2's complement conversion, making subtraction possible using the same adder hardware.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127" y="4068911"/>
            <a:ext cx="226808" cy="2268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52893" y="4064298"/>
            <a:ext cx="307282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Multiplexer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152893" y="4421485"/>
            <a:ext cx="307282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Selects the correct operation output based on control lines S1 and S0.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127" y="5103366"/>
            <a:ext cx="226808" cy="2268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52893" y="5098752"/>
            <a:ext cx="307282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Logic Gates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152893" y="5455940"/>
            <a:ext cx="307282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AND, OR, and NOT gates manage control signals and data flow throughout the circuit.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478" y="1856879"/>
            <a:ext cx="5548372" cy="31441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43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Arithmetic Operations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212975"/>
            <a:ext cx="10868745" cy="3400623"/>
          </a:xfrm>
          <a:prstGeom prst="roundRect">
            <a:avLst>
              <a:gd name="adj" fmla="val 233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825" y="2219325"/>
            <a:ext cx="5428023" cy="1693962"/>
          </a:xfrm>
          <a:custGeom>
            <a:avLst/>
            <a:gdLst/>
            <a:ahLst/>
            <a:cxnLst/>
            <a:rect l="l" t="t" r="r" b="b"/>
            <a:pathLst>
              <a:path w="5428023" h="1693962">
                <a:moveTo>
                  <a:pt x="66156" y="0"/>
                </a:moveTo>
                <a:lnTo>
                  <a:pt x="5428023" y="0"/>
                </a:lnTo>
                <a:lnTo>
                  <a:pt x="5428023" y="1693962"/>
                </a:lnTo>
                <a:lnTo>
                  <a:pt x="0" y="1693962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5" name="Text 3"/>
          <p:cNvSpPr/>
          <p:nvPr/>
        </p:nvSpPr>
        <p:spPr>
          <a:xfrm>
            <a:off x="856832" y="2408337"/>
            <a:ext cx="47665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56832" y="2817019"/>
            <a:ext cx="476654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D9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S1=0, S0=0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 + B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directly using the ripple carry adder chain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5848" y="2219325"/>
            <a:ext cx="5428023" cy="1693962"/>
          </a:xfrm>
          <a:custGeom>
            <a:avLst/>
            <a:gdLst/>
            <a:ahLst/>
            <a:cxnLst/>
            <a:rect l="l" t="t" r="r" b="b"/>
            <a:pathLst>
              <a:path w="5428023" h="1693962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693962"/>
                </a:lnTo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2219325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9" name="Text 7"/>
          <p:cNvSpPr/>
          <p:nvPr/>
        </p:nvSpPr>
        <p:spPr>
          <a:xfrm>
            <a:off x="6568315" y="2408337"/>
            <a:ext cx="47665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Subtraction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568315" y="2817019"/>
            <a:ext cx="476654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D9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S1=0, S0=1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 − B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2's complement of B with XOR inversion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67825" y="3913287"/>
            <a:ext cx="5428023" cy="1693962"/>
          </a:xfrm>
          <a:custGeom>
            <a:avLst/>
            <a:gdLst/>
            <a:ahLst/>
            <a:cxnLst/>
            <a:rect l="l" t="t" r="r" b="b"/>
            <a:pathLst>
              <a:path w="5428023" h="1693962">
                <a:moveTo>
                  <a:pt x="0" y="0"/>
                </a:moveTo>
                <a:lnTo>
                  <a:pt x="5428023" y="0"/>
                </a:lnTo>
                <a:lnTo>
                  <a:pt x="5428023" y="1693962"/>
                </a:lnTo>
                <a:lnTo>
                  <a:pt x="66156" y="1693962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825" y="3913287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3" name="Text 11"/>
          <p:cNvSpPr/>
          <p:nvPr/>
        </p:nvSpPr>
        <p:spPr>
          <a:xfrm>
            <a:off x="856832" y="4102298"/>
            <a:ext cx="47665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Increment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6832" y="4510980"/>
            <a:ext cx="476654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D9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S1=1, S0=0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 + 1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by adding a forced carry-in of 1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095848" y="3913287"/>
            <a:ext cx="5428023" cy="1693962"/>
          </a:xfrm>
          <a:custGeom>
            <a:avLst/>
            <a:gdLst/>
            <a:ahLst/>
            <a:cxnLst/>
            <a:rect l="l" t="t" r="r" b="b"/>
            <a:pathLst>
              <a:path w="5428023" h="1693962">
                <a:moveTo>
                  <a:pt x="0" y="0"/>
                </a:moveTo>
                <a:lnTo>
                  <a:pt x="5428023" y="0"/>
                </a:lnTo>
                <a:lnTo>
                  <a:pt x="5428023" y="1627804"/>
                </a:lnTo>
                <a:arcTo wR="66156" hR="66158" stAng="0" swAng="5400000"/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5848" y="3913287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7C7D0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3913287"/>
            <a:ext cx="5428023" cy="2540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8" name="Text 16"/>
          <p:cNvSpPr/>
          <p:nvPr/>
        </p:nvSpPr>
        <p:spPr>
          <a:xfrm>
            <a:off x="6568315" y="4102298"/>
            <a:ext cx="47665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Decrement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568315" y="4510980"/>
            <a:ext cx="476654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D9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S1=1, S0=1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 − 1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using 2's complement subtraction by one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859614" y="2830016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7681" y="2948087"/>
            <a:ext cx="236234" cy="23624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859614" y="4523978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FFFFFF">
              <a:alpha val="95000"/>
            </a:srgbClr>
          </a:solidFill>
          <a:ln w="25399">
            <a:solidFill>
              <a:srgbClr val="C7C7D0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7681" y="4642048"/>
            <a:ext cx="236234" cy="236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1180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Operation Selection Table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71490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two selection lines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S1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S0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fully determine which arithmetic operation the combinational circuit performs. This 2-bit control code maps directly to four distinct operations.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991372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278114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4208661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</a:t>
            </a: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 control bits</a:t>
            </a: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are needed to select from all 4 operations — a hallmark of efficient combinational design.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32776" y="1524794"/>
            <a:ext cx="5203794" cy="2747764"/>
          </a:xfrm>
          <a:prstGeom prst="roundRect">
            <a:avLst>
              <a:gd name="adj" fmla="val 288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32776" y="2076252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332776" y="2624534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332776" y="3172817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6332776" y="3721100"/>
            <a:ext cx="5203794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636974" y="1524794"/>
            <a:ext cx="11814" cy="274776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934723" y="1524794"/>
            <a:ext cx="11814" cy="274776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339225" y="1531144"/>
            <a:ext cx="1297749" cy="545108"/>
          </a:xfrm>
          <a:custGeom>
            <a:avLst/>
            <a:gdLst/>
            <a:ahLst/>
            <a:cxnLst/>
            <a:rect l="l" t="t" r="r" b="b"/>
            <a:pathLst>
              <a:path w="1297749" h="545108">
                <a:moveTo>
                  <a:pt x="66156" y="0"/>
                </a:moveTo>
                <a:lnTo>
                  <a:pt x="1297749" y="0"/>
                </a:lnTo>
                <a:lnTo>
                  <a:pt x="1297749" y="545108"/>
                </a:lnTo>
                <a:lnTo>
                  <a:pt x="0" y="545108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0066CC"/>
          </a:solidFill>
          <a:ln/>
        </p:spPr>
      </p:sp>
      <p:sp>
        <p:nvSpPr>
          <p:cNvPr id="15" name="Text 12"/>
          <p:cNvSpPr/>
          <p:nvPr/>
        </p:nvSpPr>
        <p:spPr>
          <a:xfrm>
            <a:off x="6528232" y="1650901"/>
            <a:ext cx="15261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S1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636974" y="1531144"/>
            <a:ext cx="1297749" cy="545108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7" name="Text 14"/>
          <p:cNvSpPr/>
          <p:nvPr/>
        </p:nvSpPr>
        <p:spPr>
          <a:xfrm>
            <a:off x="7829156" y="1650901"/>
            <a:ext cx="152297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S0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934723" y="1531144"/>
            <a:ext cx="2595498" cy="545108"/>
          </a:xfrm>
          <a:custGeom>
            <a:avLst/>
            <a:gdLst/>
            <a:ahLst/>
            <a:cxnLst/>
            <a:rect l="l" t="t" r="r" b="b"/>
            <a:pathLst>
              <a:path w="2595498" h="545108">
                <a:moveTo>
                  <a:pt x="0" y="0"/>
                </a:moveTo>
                <a:lnTo>
                  <a:pt x="2529341" y="0"/>
                </a:lnTo>
                <a:arcTo wR="66156" hR="66158" stAng="16200000" swAng="5400000"/>
                <a:lnTo>
                  <a:pt x="2595498" y="545108"/>
                </a:lnTo>
                <a:lnTo>
                  <a:pt x="0" y="545108"/>
                </a:lnTo>
                <a:lnTo>
                  <a:pt x="0" y="0"/>
                </a:lnTo>
                <a:close/>
              </a:path>
            </a:pathLst>
          </a:custGeom>
          <a:solidFill>
            <a:srgbClr val="0066CC"/>
          </a:solidFill>
          <a:ln/>
        </p:spPr>
      </p:sp>
      <p:sp>
        <p:nvSpPr>
          <p:cNvPr id="19" name="Text 16"/>
          <p:cNvSpPr/>
          <p:nvPr/>
        </p:nvSpPr>
        <p:spPr>
          <a:xfrm>
            <a:off x="9126904" y="1650901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Operation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223440" y="2199184"/>
            <a:ext cx="15261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7524363" y="2199184"/>
            <a:ext cx="152297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9126904" y="2199184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Addition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+ B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6223440" y="2747466"/>
            <a:ext cx="15261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524363" y="2747466"/>
            <a:ext cx="152297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9126904" y="2747466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Subtraction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− B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223440" y="3295749"/>
            <a:ext cx="15261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524363" y="3295749"/>
            <a:ext cx="152297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9126904" y="3295749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Increment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+ 1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223440" y="3844032"/>
            <a:ext cx="15261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7524363" y="3844032"/>
            <a:ext cx="152297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9126904" y="3844032"/>
            <a:ext cx="282389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Decrement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− 1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942777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Circuit Architecture</a:t>
            </a:r>
            <a:endParaRPr lang="en-US" sz="3150" dirty="0"/>
          </a:p>
        </p:txBody>
      </p:sp>
      <p:sp>
        <p:nvSpPr>
          <p:cNvPr id="4" name="Shape 1"/>
          <p:cNvSpPr/>
          <p:nvPr/>
        </p:nvSpPr>
        <p:spPr>
          <a:xfrm>
            <a:off x="5233360" y="1649611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00341" y="1816596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Ripple Carry Adder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400341" y="2149475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4-bit RCA chains four full adders, propagating carry across bits for addition operations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233360" y="2928441"/>
            <a:ext cx="6296860" cy="904577"/>
          </a:xfrm>
          <a:prstGeom prst="roundRect">
            <a:avLst>
              <a:gd name="adj" fmla="val 746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00341" y="3095427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XOR for 2's Complement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00341" y="3428305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XOR gates invert B bits; Cin=1 completes 2's complement for subtraction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233360" y="3969544"/>
            <a:ext cx="6296860" cy="904577"/>
          </a:xfrm>
          <a:prstGeom prst="roundRect">
            <a:avLst>
              <a:gd name="adj" fmla="val 746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00341" y="4136529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Multiplexer Output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400341" y="4469408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MUX routes the correct computed result to the output bus based on S1, S0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233360" y="5010646"/>
            <a:ext cx="6296860" cy="904577"/>
          </a:xfrm>
          <a:prstGeom prst="roundRect">
            <a:avLst>
              <a:gd name="adj" fmla="val 746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00341" y="5177631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Carry &amp; Overflow Flags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400341" y="5510510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Carry-out and overflow flags validate results and detect boundary conditions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465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Simulation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103338"/>
            <a:ext cx="11478330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four operations verified in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Logisim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each producing correct binary output matching expected decimal results: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238" y="2491680"/>
            <a:ext cx="4866161" cy="27574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42163" y="2640707"/>
            <a:ext cx="3594308" cy="1582539"/>
          </a:xfrm>
          <a:prstGeom prst="roundRect">
            <a:avLst>
              <a:gd name="adj" fmla="val 351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42163" y="2954040"/>
            <a:ext cx="3594308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942163" y="3270548"/>
            <a:ext cx="3594308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942163" y="3587055"/>
            <a:ext cx="3594308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942163" y="3903563"/>
            <a:ext cx="3594308" cy="82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948711" y="2647057"/>
            <a:ext cx="1432584" cy="306983"/>
          </a:xfrm>
          <a:custGeom>
            <a:avLst/>
            <a:gdLst/>
            <a:ahLst/>
            <a:cxnLst/>
            <a:rect l="l" t="t" r="r" b="b"/>
            <a:pathLst>
              <a:path w="1432584" h="306983">
                <a:moveTo>
                  <a:pt x="46310" y="0"/>
                </a:moveTo>
                <a:lnTo>
                  <a:pt x="1432584" y="0"/>
                </a:lnTo>
                <a:lnTo>
                  <a:pt x="1432584" y="306983"/>
                </a:lnTo>
                <a:lnTo>
                  <a:pt x="0" y="306983"/>
                </a:lnTo>
                <a:lnTo>
                  <a:pt x="0" y="46311"/>
                </a:lnTo>
                <a:arcTo wR="46310" hR="46311" stAng="10800000" swAng="5400000"/>
                <a:close/>
              </a:path>
            </a:pathLst>
          </a:custGeom>
          <a:solidFill>
            <a:srgbClr val="0066CC"/>
          </a:solidFill>
          <a:ln/>
        </p:spPr>
      </p:sp>
      <p:sp>
        <p:nvSpPr>
          <p:cNvPr id="11" name="Text 8"/>
          <p:cNvSpPr/>
          <p:nvPr/>
        </p:nvSpPr>
        <p:spPr>
          <a:xfrm>
            <a:off x="8080967" y="2708970"/>
            <a:ext cx="177765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Operation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9381295" y="2647057"/>
            <a:ext cx="1074413" cy="306983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3" name="Text 10"/>
          <p:cNvSpPr/>
          <p:nvPr/>
        </p:nvSpPr>
        <p:spPr>
          <a:xfrm>
            <a:off x="9513550" y="2708970"/>
            <a:ext cx="141948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Binary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455708" y="2647057"/>
            <a:ext cx="1074413" cy="306983"/>
          </a:xfrm>
          <a:custGeom>
            <a:avLst/>
            <a:gdLst/>
            <a:ahLst/>
            <a:cxnLst/>
            <a:rect l="l" t="t" r="r" b="b"/>
            <a:pathLst>
              <a:path w="1074413" h="306983">
                <a:moveTo>
                  <a:pt x="0" y="0"/>
                </a:moveTo>
                <a:lnTo>
                  <a:pt x="1028103" y="0"/>
                </a:lnTo>
                <a:arcTo wR="46310" hR="46311" stAng="16200000" swAng="5400000"/>
                <a:lnTo>
                  <a:pt x="1074413" y="306983"/>
                </a:lnTo>
                <a:lnTo>
                  <a:pt x="0" y="306983"/>
                </a:lnTo>
                <a:lnTo>
                  <a:pt x="0" y="0"/>
                </a:lnTo>
                <a:close/>
              </a:path>
            </a:pathLst>
          </a:custGeom>
          <a:solidFill>
            <a:srgbClr val="0066CC"/>
          </a:solidFill>
          <a:ln/>
        </p:spPr>
      </p:sp>
      <p:sp>
        <p:nvSpPr>
          <p:cNvPr id="15" name="Text 12"/>
          <p:cNvSpPr/>
          <p:nvPr/>
        </p:nvSpPr>
        <p:spPr>
          <a:xfrm>
            <a:off x="10587963" y="2708970"/>
            <a:ext cx="141948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Decimal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80967" y="3019127"/>
            <a:ext cx="177765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513550" y="3019127"/>
            <a:ext cx="1419487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0101 + 0011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587963" y="3019127"/>
            <a:ext cx="141948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 + 3 = 8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80967" y="3335635"/>
            <a:ext cx="177765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Subtraction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513550" y="3335635"/>
            <a:ext cx="1419487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1001 − 0011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587963" y="3335635"/>
            <a:ext cx="141948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9 − 3 = 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080967" y="3652143"/>
            <a:ext cx="177765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Increment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513550" y="3652143"/>
            <a:ext cx="1419487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0111 + 0001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587963" y="3652143"/>
            <a:ext cx="141948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 + 1 = 8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80967" y="3968651"/>
            <a:ext cx="177765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Decrement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513550" y="3968651"/>
            <a:ext cx="1419487" cy="1863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1000 − 0001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587963" y="3968651"/>
            <a:ext cx="1419487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8 − 1 = 7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942163" y="4327426"/>
            <a:ext cx="3594308" cy="772716"/>
          </a:xfrm>
          <a:prstGeom prst="roundRect">
            <a:avLst>
              <a:gd name="adj" fmla="val 7192"/>
            </a:avLst>
          </a:prstGeom>
          <a:solidFill>
            <a:srgbClr val="B6FCB8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418" y="4470598"/>
            <a:ext cx="165294" cy="132259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371968" y="4443809"/>
            <a:ext cx="3032248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simulation outputs verified correct — zero discrepancies between expected and simulated results.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06141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Advantages, Applications &amp; Conclusion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66566"/>
            <a:ext cx="321262" cy="3212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3389" y="2421731"/>
            <a:ext cx="474650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Advantages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1153389" y="2809280"/>
            <a:ext cx="4746506" cy="808633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Fast, gate-level computation with no clock dependency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Simple, low hardware complexity design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expandable to wider bit-widths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90963"/>
            <a:ext cx="321262" cy="32127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53389" y="3946128"/>
            <a:ext cx="474650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153389" y="4333677"/>
            <a:ext cx="4746506" cy="808633"/>
          </a:xfrm>
          <a:prstGeom prst="rect">
            <a:avLst/>
          </a:prstGeom>
          <a:noFill/>
          <a:ln/>
        </p:spPr>
        <p:txBody>
          <a:bodyPr wrap="square" lIns="0" tIns="64266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ALU design in general-purpose processors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computers and embedded systems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Signal processing and FPGA implementations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298149" y="2366566"/>
            <a:ext cx="2550949" cy="1704181"/>
          </a:xfrm>
          <a:prstGeom prst="roundRect">
            <a:avLst>
              <a:gd name="adj" fmla="val 396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77830" y="2546251"/>
            <a:ext cx="2191588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✅</a:t>
            </a: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Achievements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477830" y="2940149"/>
            <a:ext cx="2191588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and simulated a fully functional 4-bit arithmetic calculator with verified combinational logic.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985621" y="2366566"/>
            <a:ext cx="2550949" cy="1704181"/>
          </a:xfrm>
          <a:prstGeom prst="roundRect">
            <a:avLst>
              <a:gd name="adj" fmla="val 396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65301" y="2546251"/>
            <a:ext cx="2191588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🚀</a:t>
            </a: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Future Work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9165301" y="2940149"/>
            <a:ext cx="2191588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Expand to 8-bit, add multiplication &amp; division, and deploy on FPGA hardware for real-world validation.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98149" y="4207272"/>
            <a:ext cx="5238421" cy="990997"/>
          </a:xfrm>
          <a:prstGeom prst="roundRect">
            <a:avLst>
              <a:gd name="adj" fmla="val 680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77830" y="4386957"/>
            <a:ext cx="4879059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🙏</a:t>
            </a: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Thank You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477830" y="4780855"/>
            <a:ext cx="487905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&amp; Answers — we welcome your feedback and discussion.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8074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dirty="0">
                <a:solidFill>
                  <a:srgbClr val="001A4D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5485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1A4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appreciate your time and attention to our project. We hope our work demonstrates a clear understanding of combinational logic design and its practical application in digital arithmetic.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97232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777</Words>
  <Application>Microsoft Office PowerPoint</Application>
  <PresentationFormat>Widescreen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Roboto</vt:lpstr>
      <vt:lpstr>Raleway</vt:lpstr>
      <vt:lpstr>Consolas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Jagrithi Kasani</cp:lastModifiedBy>
  <cp:revision>3</cp:revision>
  <dcterms:created xsi:type="dcterms:W3CDTF">2026-08-21T13:47:34Z</dcterms:created>
  <dcterms:modified xsi:type="dcterms:W3CDTF">2026-10-15T07:38:42Z</dcterms:modified>
</cp:coreProperties>
</file>